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553308a71e41d8" /><Relationship Type="http://schemas.openxmlformats.org/officeDocument/2006/relationships/extended-properties" Target="/docProps/app.xml" Id="R1383553b74c64d49" /><Relationship Type="http://schemas.openxmlformats.org/officeDocument/2006/relationships/officeDocument" Target="/ppt/presentation.xml" Id="Rc8cd9e1fc50442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d170f40e544c06"/>
  </p:sldMasterIdLst>
  <p:notesMasterIdLst>
    <p:notesMasterId xmlns:r="http://schemas.openxmlformats.org/officeDocument/2006/relationships" r:id="R31aab39ee36e44cd"/>
  </p:notesMasterIdLst>
  <p:sldIdLst>
    <p:sldId xmlns:r="http://schemas.openxmlformats.org/officeDocument/2006/relationships" id="256" r:id="Rb14bebaa985f4855"/>
    <p:sldId xmlns:r="http://schemas.openxmlformats.org/officeDocument/2006/relationships" id="257" r:id="R7168025059e341e2"/>
    <p:sldId xmlns:r="http://schemas.openxmlformats.org/officeDocument/2006/relationships" id="258" r:id="Rdb257ab663f74180"/>
    <p:sldId xmlns:r="http://schemas.openxmlformats.org/officeDocument/2006/relationships" id="259" r:id="R3d71b4c4ba764b1d"/>
    <p:sldId xmlns:r="http://schemas.openxmlformats.org/officeDocument/2006/relationships" id="260" r:id="R1f9142c4b7b14dd3"/>
    <p:sldId xmlns:r="http://schemas.openxmlformats.org/officeDocument/2006/relationships" id="261" r:id="Rb2442cd1f62943a9"/>
    <p:sldId xmlns:r="http://schemas.openxmlformats.org/officeDocument/2006/relationships" id="262" r:id="R35ac6fb8c0434fc7"/>
    <p:sldId xmlns:r="http://schemas.openxmlformats.org/officeDocument/2006/relationships" id="263" r:id="Rdc66f8580a2f4988"/>
    <p:sldId xmlns:r="http://schemas.openxmlformats.org/officeDocument/2006/relationships" id="264" r:id="R8ae9877b50b74192"/>
    <p:sldId xmlns:r="http://schemas.openxmlformats.org/officeDocument/2006/relationships" id="265" r:id="R7147c1b0f0114745"/>
    <p:sldId xmlns:r="http://schemas.openxmlformats.org/officeDocument/2006/relationships" id="266" r:id="R325e1aed82624b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9a0b275b21475e" /><Relationship Type="http://schemas.openxmlformats.org/officeDocument/2006/relationships/slideMaster" Target="/ppt/slideMasters/slideMaster1.xml" Id="R00d170f40e544c06" /><Relationship Type="http://schemas.openxmlformats.org/officeDocument/2006/relationships/notesMaster" Target="/ppt/notesMasters/notesMaster1.xml" Id="R31aab39ee36e44cd" /><Relationship Type="http://schemas.openxmlformats.org/officeDocument/2006/relationships/presProps" Target="/ppt/presProps.xml" Id="Rc2ec2dea8a714a16" /><Relationship Type="http://schemas.openxmlformats.org/officeDocument/2006/relationships/tableStyles" Target="/ppt/tableStyles.xml" Id="Rcc4d35f1fa6c4db9" /><Relationship Type="http://schemas.openxmlformats.org/officeDocument/2006/relationships/slide" Target="/ppt/slides/slide1.xml" Id="Rb14bebaa985f4855" /><Relationship Type="http://schemas.openxmlformats.org/officeDocument/2006/relationships/slide" Target="/ppt/slides/slide2.xml" Id="R7168025059e341e2" /><Relationship Type="http://schemas.openxmlformats.org/officeDocument/2006/relationships/slide" Target="/ppt/slides/slide3.xml" Id="Rdb257ab663f74180" /><Relationship Type="http://schemas.openxmlformats.org/officeDocument/2006/relationships/slide" Target="/ppt/slides/slide4.xml" Id="R3d71b4c4ba764b1d" /><Relationship Type="http://schemas.openxmlformats.org/officeDocument/2006/relationships/slide" Target="/ppt/slides/slide5.xml" Id="R1f9142c4b7b14dd3" /><Relationship Type="http://schemas.openxmlformats.org/officeDocument/2006/relationships/slide" Target="/ppt/slides/slide6.xml" Id="Rb2442cd1f62943a9" /><Relationship Type="http://schemas.openxmlformats.org/officeDocument/2006/relationships/slide" Target="/ppt/slides/slide7.xml" Id="R35ac6fb8c0434fc7" /><Relationship Type="http://schemas.openxmlformats.org/officeDocument/2006/relationships/slide" Target="/ppt/slides/slide8.xml" Id="Rdc66f8580a2f4988" /><Relationship Type="http://schemas.openxmlformats.org/officeDocument/2006/relationships/slide" Target="/ppt/slides/slide9.xml" Id="R8ae9877b50b74192" /><Relationship Type="http://schemas.openxmlformats.org/officeDocument/2006/relationships/slide" Target="/ppt/slides/slide10.xml" Id="R7147c1b0f0114745" /><Relationship Type="http://schemas.openxmlformats.org/officeDocument/2006/relationships/slide" Target="/ppt/slides/slide11.xml" Id="R325e1aed82624b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f9d36c717842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ut Cross-Entropy">
  <a:themeElements>
    <a:clrScheme name="Cut Cross-Entropy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ut Cross-Entrop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c2ce1951b44336" /><Relationship Type="http://schemas.openxmlformats.org/officeDocument/2006/relationships/notesMaster" Target="/ppt/notesMasters/notesMaster1.xml" Id="R2196f9d2325240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945f441d7a452c" /><Relationship Type="http://schemas.openxmlformats.org/officeDocument/2006/relationships/notesMaster" Target="/ppt/notesMasters/notesMaster1.xml" Id="R90ab33f37d4349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d58ad39c044aaf" /><Relationship Type="http://schemas.openxmlformats.org/officeDocument/2006/relationships/notesMaster" Target="/ppt/notesMasters/notesMaster1.xml" Id="R934dbb519fab49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a0a5b0ce9040dd" /><Relationship Type="http://schemas.openxmlformats.org/officeDocument/2006/relationships/notesMaster" Target="/ppt/notesMasters/notesMaster1.xml" Id="Rb17372e1ea7149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ea7714003a46f5" /><Relationship Type="http://schemas.openxmlformats.org/officeDocument/2006/relationships/notesMaster" Target="/ppt/notesMasters/notesMaster1.xml" Id="Re813e3b261534a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d6aef2a39d4c2d" /><Relationship Type="http://schemas.openxmlformats.org/officeDocument/2006/relationships/notesMaster" Target="/ppt/notesMasters/notesMaster1.xml" Id="R1b804b443fa543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46ad62c5bd4066" /><Relationship Type="http://schemas.openxmlformats.org/officeDocument/2006/relationships/notesMaster" Target="/ppt/notesMasters/notesMaster1.xml" Id="Reb9f697d12564b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abe4519ee34f8e" /><Relationship Type="http://schemas.openxmlformats.org/officeDocument/2006/relationships/notesMaster" Target="/ppt/notesMasters/notesMaster1.xml" Id="R3630de49d65d4f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8e592e335c4187" /><Relationship Type="http://schemas.openxmlformats.org/officeDocument/2006/relationships/notesMaster" Target="/ppt/notesMasters/notesMaster1.xml" Id="Rab3dd8305da043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99ef4e248d4dbf" /><Relationship Type="http://schemas.openxmlformats.org/officeDocument/2006/relationships/notesMaster" Target="/ppt/notesMasters/notesMaster1.xml" Id="R11f5d263cd7b41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57d682ff9e4be6" /><Relationship Type="http://schemas.openxmlformats.org/officeDocument/2006/relationships/notesMaster" Target="/ppt/notesMasters/notesMaster1.xml" Id="Rf5e7cd6693a048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https://arxiv.org/html/2411.09009v2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https://arxiv.org/html/2411.09009v2 , разделы 1 и 3, таблица 1, раздел 5.1. Матрица логитов растёт как N × |V|; дополнительная память CCE растёт как O(N + |V|).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https://arxiv.org/html/2411.09009v2 , раздел 4, уравнение 4. В статье авторы записывают log softmax, который максимизируют; на слайде показана противоположная по знаку функция потерь (negative log-likelihood), которую минимизируют. Формула производной на слайде про обратный проход относится к этой функции потерь.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https://arxiv.org/html/2411.09009v2 , разделы 4.1 и 4.2, алгоритмы 1–2. Дополнительная оптимизация из приложения B: позиции с игнорируемой меткой исключают до вычисления логитов; она применима и к другим реализациям.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https://arxiv.org/html/2411.09009v2 , раздел 4.3 и таблица 1. Порог 2^-12 и эффект фильтрации описаны авторами для BF16.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изображения: Figure 3, https://arxiv.org/html/2411.09009v2/x6.svg . Пояснение: https://arxiv.org/html/2411.09009v2 , раздел 5.2 и раздел 4.3. Рисунок показывает среднюю softmax-вероятность по рангу класса, а не сами градиенты. BF16 способен представлять значения ниже 2^-12; порог авторов связан с усечением при суммировании и округлением при нормализации.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https://arxiv.org/html/2411.09009v2 , раздел 4.3 (Vocabulary sorting), таблица 1. Средний логит каждого элемента словаря вычисляется в прямом проходе; в обратном проходе элементы группируются по близкому среднему логиту. Сортировка уменьшает число частично заполненных блоков и повышает эффективность фильтрации. Для Gemma 2 2B на A100, 8192 токенов, функция потерь и градиент: CCE 145 мс, CCE без сортировки 159 мс.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https://arxiv.org/html/2411.09009v2 , таблица 1. Условия: 8192 токена, BF16, A100-SXM4 80GB; память в опубликованных MB. Крупные числа на слайде относятся к функции потерь вместе с градиентом. Если измерять только функцию потерь, пик памяти у CCE — 1 MB, у PyTorch Baseline — 24 000 MB. Ограничение универсального ускорения: https://arxiv.org/html/2411.09009v2 , приложение C.2, Phi 3.5 Mini: CCE примерно на 50% медленнее torch.compile, хотя памяти требует значительно меньше.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https://arxiv.org/html/2411.09009v2 , таблица 1, Gemma 2 2B, A100, 8192 токенов.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https://arxiv.org/html/2411.09009v2 , раздел 5.3, рисунки 4 и 5. Для предобучения авторы используют CCE-Kahan-FullC из-за численных ошибок и градиентов редких токенов. На Mistral NeMo больший батч сократил полное время обучения на 2 часа, или 16%, несмотря на более медленную отдельную операцию функции потерь и градиента (таблица 1: 313 мс против 143 мс у torch.compile в условиях Gemma 2 2B).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https://arxiv.org/html/2411.09009v2 , раздел 6 Discussion. Авторы пишут, что pipeline parallelism лучше работает при равной вычислительной нагрузке стадий и близком отношении памяти к вычислениям у блоков модели. Classification head назван outlier с непропорционально высоким отношением памяти к вычислениям. Улучшение балансировки и сокращение числа стадий названы возможными эффектами CCE, а не показанными в статье измерениями 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81b69027f041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308a02a65444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741994d24143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6c9bc6fbfe40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154e8c309a48f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1116eb3c3844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6CB8F7-41B5-4EDE-B326-7223FD7875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5C2D877-7A58-4652-81A5-21B57E30622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B152425-8A25-461A-ABAC-7D1D30DDEC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3C464C-980A-429B-8D2F-AFBF69E467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5008208-DDB9-4F2D-A99E-BF6B4924D9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CB1D52-DD60-4440-A914-86E2CAF5E1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A0C4E8-84E4-49EE-ABC9-E568F3564D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EF0E270-FB12-4F94-BA04-AADAF516570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B33393-E2B6-489F-ADFC-1512F03BB5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687B80-BDEB-459B-AAE4-92D546D0A6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cf722498764481" /><Relationship Type="http://schemas.openxmlformats.org/officeDocument/2006/relationships/slideLayout" Target="/ppt/slideLayouts/slideLayout1.xml" Id="Rae047ee948f549af" /><Relationship Type="http://schemas.openxmlformats.org/officeDocument/2006/relationships/slideLayout" Target="/ppt/slideLayouts/slideLayout2.xml" Id="R676cf6697f254b14" /><Relationship Type="http://schemas.openxmlformats.org/officeDocument/2006/relationships/slideLayout" Target="/ppt/slideLayouts/slideLayout3.xml" Id="Rfbede7854b264dc7" /><Relationship Type="http://schemas.openxmlformats.org/officeDocument/2006/relationships/slideLayout" Target="/ppt/slideLayouts/slideLayout4.xml" Id="Ra4ae0323337b4a7d" /><Relationship Type="http://schemas.openxmlformats.org/officeDocument/2006/relationships/slideLayout" Target="/ppt/slideLayouts/slideLayout5.xml" Id="Rd51336bcccd44433" /><Relationship Type="http://schemas.openxmlformats.org/officeDocument/2006/relationships/slideLayout" Target="/ppt/slideLayouts/slideLayout6.xml" Id="R97efdeb4ab0c4e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047ee948f549af"/>
    <p:sldLayoutId xmlns:r="http://schemas.openxmlformats.org/officeDocument/2006/relationships" id="2147483650" r:id="R676cf6697f254b14"/>
    <p:sldLayoutId xmlns:r="http://schemas.openxmlformats.org/officeDocument/2006/relationships" id="2147483651" r:id="Rfbede7854b264dc7"/>
    <p:sldLayoutId xmlns:r="http://schemas.openxmlformats.org/officeDocument/2006/relationships" id="2147483652" r:id="Ra4ae0323337b4a7d"/>
    <p:sldLayoutId xmlns:r="http://schemas.openxmlformats.org/officeDocument/2006/relationships" id="2147483653" r:id="Rd51336bcccd44433"/>
    <p:sldLayoutId xmlns:r="http://schemas.openxmlformats.org/officeDocument/2006/relationships" id="2147483654" r:id="R97efdeb4ab0c4e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ut Cross-Entropy">
  <a:themeElements>
    <a:clrScheme name="Cut Cross-Entropy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ut Cross-Entrop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3cb76cea714aca" /><Relationship Type="http://schemas.openxmlformats.org/officeDocument/2006/relationships/notesSlide" Target="/ppt/notesSlides/notesSlide1.xml" Id="Rb09ebf1154d742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956dfbb7e6481a" /><Relationship Type="http://schemas.openxmlformats.org/officeDocument/2006/relationships/notesSlide" Target="/ppt/notesSlides/notesSlide2.xml" Id="R2d46896d506c45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1b499e52eb4bc7" /><Relationship Type="http://schemas.openxmlformats.org/officeDocument/2006/relationships/image" Target="/ppt/media/image.png" Id="R9f4e94ba39744c2d" /><Relationship Type="http://schemas.openxmlformats.org/officeDocument/2006/relationships/notesSlide" Target="/ppt/notesSlides/notesSlide3.xml" Id="Rd793f827957248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8a55383afd45c3" /><Relationship Type="http://schemas.openxmlformats.org/officeDocument/2006/relationships/notesSlide" Target="/ppt/notesSlides/notesSlide4.xml" Id="R5ea87a8d8f5c40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b8643335a8448f" /><Relationship Type="http://schemas.openxmlformats.org/officeDocument/2006/relationships/image" Target="/ppt/media/image2.png" Id="R918e1b15e57649be" /><Relationship Type="http://schemas.openxmlformats.org/officeDocument/2006/relationships/image" Target="/ppt/media/image3.png" Id="R6be4efcf721d4cc1" /><Relationship Type="http://schemas.openxmlformats.org/officeDocument/2006/relationships/notesSlide" Target="/ppt/notesSlides/notesSlide5.xml" Id="R59974a3ff5ad45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43199b94604d5c" /><Relationship Type="http://schemas.openxmlformats.org/officeDocument/2006/relationships/image" Target="/ppt/media/image4.png" Id="R3fafdcb626664278" /><Relationship Type="http://schemas.openxmlformats.org/officeDocument/2006/relationships/notesSlide" Target="/ppt/notesSlides/notesSlide6.xml" Id="R3555e42158854d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3bbde12f4a4ebc" /><Relationship Type="http://schemas.openxmlformats.org/officeDocument/2006/relationships/notesSlide" Target="/ppt/notesSlides/notesSlide7.xml" Id="Rd47321d94b1244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2e786ce86c43af" /><Relationship Type="http://schemas.openxmlformats.org/officeDocument/2006/relationships/notesSlide" Target="/ppt/notesSlides/notesSlide8.xml" Id="Rf811552b83954f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9ebf000c274397" /><Relationship Type="http://schemas.openxmlformats.org/officeDocument/2006/relationships/notesSlide" Target="/ppt/notesSlides/notesSlide9.xml" Id="Rd9cb365f399146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022cc1018b4d4b" /><Relationship Type="http://schemas.openxmlformats.org/officeDocument/2006/relationships/notesSlide" Target="/ppt/notesSlides/notesSlide10.xml" Id="Rdfc673cd672743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9df3d40d3b43e3" /><Relationship Type="http://schemas.openxmlformats.org/officeDocument/2006/relationships/notesSlide" Target="/ppt/notesSlides/notesSlide11.xml" Id="Rfdb164bc380a48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5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727F0-5633-4988-B0FB-40A804B8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Cross-Entropy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B6FD2-31EE-4643-94B1-F2A8BEA0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75" b="0">
                <a:solidFill>
                  <a:srgbClr val="CFE0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CFE0F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CFE0FF"/>
                </a:solidFill>
                <a:latin typeface="Arial"/>
                <a:ea typeface="Arial"/>
                <a:cs typeface="Arial"/>
              </a:rPr>
              <a:t>Вычисление функции потерь без полной матрицы логитов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ACAB9-0B3F-4662-9E33-0EE0029D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Wijmans et al., arXiv:2411.09009v2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FCFD6-8604-44CC-856A-8BD37C55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8C8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B8C8E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8E4"/>
                </a:solidFill>
                <a:latin typeface="Arial"/>
                <a:ea typeface="Arial"/>
                <a:cs typeface="Arial"/>
              </a:rPr>
              <a:t>Метод и результаты статьи</a:t>
            </a:r>
          </a:p>
        </p:txBody>
      </p:sp>
    </p:spTree>
    <p:extLst>
      <p:ext uri="{BB962C8B-B14F-4D97-AF65-F5344CB8AC3E}">
        <p14:creationId xmlns:p14="http://schemas.microsoft.com/office/powerpoint/2010/main" val="10308667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FB7E1-ABF1-44C7-9FAB-50C598F4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10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253D"/>
                </a:solidFill>
                <a:latin typeface="Arial"/>
                <a:ea typeface="Arial"/>
                <a:cs typeface="Arial"/>
              </a:rPr>
              <a:t>Откуда берётся расход памяти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EE183-9F45-4C43-B52E-2C21C59C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МАТРИЦА ЛОГИТОВ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17EEB-88A8-47D7-9CA3-56A2CB07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53D"/>
                </a:solidFill>
                <a:latin typeface="Arial"/>
                <a:ea typeface="Arial"/>
                <a:cs typeface="Arial"/>
              </a:rPr>
              <a:t>На выходе модели для N позиций вычисляют логиты по всему словарю |V|. Получается матрица размером N × |V|.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44638-8133-4665-9050-FEA4BD70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647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8 192 × 256 000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AF12A-BC71-4962-9EC4-DC56BDB7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2907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позиций × элементов словаря Gemma 2 2B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5F9AA-2921-42D1-8DB7-F37F62AC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53D"/>
                </a:solidFill>
                <a:latin typeface="Arial"/>
                <a:ea typeface="Arial"/>
                <a:cs typeface="Arial"/>
              </a:rPr>
              <a:t>Такая матрица в FP32 занимает около 8,4 ГБ. У CCE дополнительная память растёт как O(N + |V|), а не O(N × |V|).</a:t>
            </a:r>
          </a:p>
        </p:txBody>
      </p:sp>
    </p:spTree>
    <p:extLst>
      <p:ext uri="{BB962C8B-B14F-4D97-AF65-F5344CB8AC3E}">
        <p14:creationId xmlns:p14="http://schemas.microsoft.com/office/powerpoint/2010/main" val="13869439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A5FCA-95A2-45B5-848A-C967F79E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10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253D"/>
                </a:solidFill>
                <a:latin typeface="Arial"/>
                <a:ea typeface="Arial"/>
                <a:cs typeface="Arial"/>
              </a:rPr>
              <a:t>Разложение кросс-энтропии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26B8F-A94F-4838-830B-96CADEC2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53D"/>
                </a:solidFill>
                <a:latin typeface="Arial"/>
                <a:ea typeface="Arial"/>
                <a:cs typeface="Arial"/>
              </a:rPr>
              <a:t>Для каждой позиции функция потерь состоит из двух слагаемых: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E9182-49A8-4F47-8151-D4BECBF82D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4e94ba39744c2d"/>
          <a:stretch xmlns:a="http://schemas.openxmlformats.org/drawingml/2006/main"/>
        </p:blipFill>
        <p:spPr>
          <a:xfrm xmlns:a="http://schemas.openxmlformats.org/drawingml/2006/main">
            <a:off x="711911" y="2152650"/>
            <a:ext cx="10425278" cy="2428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1E20D-D324-400F-8093-8472E911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ЛОГИТ ЦЕЛЕВОГО ТОКЕНА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59DE3-AC53-40DD-B3C9-CF2A5A9E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53D"/>
                </a:solidFill>
                <a:latin typeface="Arial"/>
                <a:ea typeface="Arial"/>
                <a:cs typeface="Arial"/>
              </a:rPr>
              <a:t>Его вычисляют отдельно, по известному индексу токена.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0848B-69A2-4899-8F29-3D898096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686300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СУММА ПО СЛОВАРЮ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13DA8-6A28-4201-A1C3-099C8635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0673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53D"/>
                </a:solidFill>
                <a:latin typeface="Arial"/>
                <a:ea typeface="Arial"/>
                <a:cs typeface="Arial"/>
              </a:rPr>
              <a:t>Log-sum-exp считают по блокам словаря.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C840E-0C59-4732-8A5D-D9EBB8C0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В статье максимизируют log softmax; здесь показана функция потерь −log softmax.</a:t>
            </a:r>
          </a:p>
        </p:txBody>
      </p:sp>
    </p:spTree>
    <p:extLst>
      <p:ext uri="{BB962C8B-B14F-4D97-AF65-F5344CB8AC3E}">
        <p14:creationId xmlns:p14="http://schemas.microsoft.com/office/powerpoint/2010/main" val="6075362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6F060-06FD-4FC2-96E4-28A79849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10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253D"/>
                </a:solidFill>
                <a:latin typeface="Arial"/>
                <a:ea typeface="Arial"/>
                <a:cs typeface="Arial"/>
              </a:rPr>
              <a:t>Прямой проход без полной матрицы логитов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47D4D-BF41-4B70-9A35-626F5ECD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1. БЛОКИ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93A1A-2483-416F-8047-5F92E0FD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53D"/>
                </a:solidFill>
                <a:latin typeface="Arial"/>
                <a:ea typeface="Arial"/>
                <a:cs typeface="Arial"/>
              </a:rPr>
              <a:t>Triton kernel загружает блоки скрытых состояний и весов выходного слоя.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84C74-B6F5-4E92-9FC2-26020BEB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2. LSE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E322D-C2E1-4BF8-AB62-7E6C7676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620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53D"/>
                </a:solidFill>
                <a:latin typeface="Arial"/>
                <a:ea typeface="Arial"/>
                <a:cs typeface="Arial"/>
              </a:rPr>
              <a:t>Вычисляет логиты блока и сразу обновляет log-sum-exp.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945B1-001B-41FD-9D0C-17BEB217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3. ПАМЯТЬ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2F861-1FEE-4EC3-A2DD-BF50EFE6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3346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53D"/>
                </a:solidFill>
                <a:latin typeface="Arial"/>
                <a:ea typeface="Arial"/>
                <a:cs typeface="Arial"/>
              </a:rPr>
              <a:t>Промежуточные логиты остаются на чипе GPU (SRAM). Полную матрицу N × |V| не записывают в видеопамять.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F8A47-0482-472F-8767-630F487B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Отдельная оптимизация: позиции с игнорируемой меткой исключают до расчёта логитов.</a:t>
            </a:r>
          </a:p>
        </p:txBody>
      </p:sp>
    </p:spTree>
    <p:extLst>
      <p:ext uri="{BB962C8B-B14F-4D97-AF65-F5344CB8AC3E}">
        <p14:creationId xmlns:p14="http://schemas.microsoft.com/office/powerpoint/2010/main" val="12463934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8C028-5FBD-48BF-A2E5-9A8C7108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10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253D"/>
                </a:solidFill>
                <a:latin typeface="Arial"/>
                <a:ea typeface="Arial"/>
                <a:cs typeface="Arial"/>
              </a:rPr>
              <a:t>Обратный проход: фильтрация малых вкладов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195BA-E7BA-46BA-9343-DF706C99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334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53D"/>
                </a:solidFill>
                <a:latin typeface="Arial"/>
                <a:ea typeface="Arial"/>
                <a:cs typeface="Arial"/>
              </a:rPr>
              <a:t>Производная по логиту равна вероятности класса минус 1 для целевого токена: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B1B3B-3EA0-4594-B5B9-47173BD560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e1b15e57649be"/>
          <a:stretch xmlns:a="http://schemas.openxmlformats.org/drawingml/2006/main"/>
        </p:blipFill>
        <p:spPr>
          <a:xfrm xmlns:a="http://schemas.openxmlformats.org/drawingml/2006/main">
            <a:off x="692514" y="2266950"/>
            <a:ext cx="7892321" cy="154305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757AC-9AA7-4B95-B9CF-7DAC5734E0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4efcf721d4cc1"/>
          <a:stretch xmlns:a="http://schemas.openxmlformats.org/drawingml/2006/main"/>
        </p:blipFill>
        <p:spPr>
          <a:xfrm xmlns:a="http://schemas.openxmlformats.org/drawingml/2006/main">
            <a:off x="685800" y="3934596"/>
            <a:ext cx="3238500" cy="77950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08633-EC01-49F4-B7A6-F08F05C1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287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53D"/>
                </a:solidFill>
                <a:latin typeface="Arial"/>
                <a:ea typeface="Arial"/>
                <a:cs typeface="Arial"/>
              </a:rPr>
              <a:t>Если все вероятности в блоке ниже порога, kernel не считает его вклад в градиент.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22475-3452-452C-8103-A230D9BC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191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Чтобы чаще пропускать блоки целиком, авторы сортируют словарь по среднему логиту.</a:t>
            </a:r>
          </a:p>
        </p:txBody>
      </p:sp>
    </p:spTree>
    <p:extLst>
      <p:ext uri="{BB962C8B-B14F-4D97-AF65-F5344CB8AC3E}">
        <p14:creationId xmlns:p14="http://schemas.microsoft.com/office/powerpoint/2010/main" val="14120730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0CB3D-0505-4535-8238-F3CA274C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10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253D"/>
                </a:solidFill>
                <a:latin typeface="Arial"/>
                <a:ea typeface="Arial"/>
                <a:cs typeface="Arial"/>
              </a:rPr>
              <a:t>Почему можно пропускать блоки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8ED2F-287F-4821-9D2A-793BF3683A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afdcb626664278"/>
          <a:stretch xmlns:a="http://schemas.openxmlformats.org/drawingml/2006/main"/>
        </p:blipFill>
        <p:spPr>
          <a:xfrm xmlns:a="http://schemas.openxmlformats.org/drawingml/2006/main">
            <a:off x="735620" y="1466850"/>
            <a:ext cx="6091610" cy="447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42896-6123-4366-9823-29BF6380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3827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РИСУНОК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87DD3-8F75-412A-AA36-35EC7A4B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866900"/>
            <a:ext cx="4095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53D"/>
                </a:solidFill>
                <a:latin typeface="Arial"/>
                <a:ea typeface="Arial"/>
                <a:cs typeface="Arial"/>
              </a:rPr>
              <a:t>График показывает среднюю вероятность токена в зависимости от его места в ранжировании.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6D949-9FFC-4A23-8486-BC1789C6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02895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ПОРОГ ФИЛЬТРАЦИИ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9C6EC-AEC9-4DEB-BE07-9BA86B18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438525"/>
            <a:ext cx="4095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53D"/>
                </a:solidFill>
                <a:latin typeface="Arial"/>
                <a:ea typeface="Arial"/>
                <a:cs typeface="Arial"/>
              </a:rPr>
              <a:t>Примерно с 50-го места средняя вероятность ниже 2⁻¹². В BF16 такие значения часто теряются при округлении или суммировании.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9D0D5-E97C-4FB5-957F-1FB10DB6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981575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53D"/>
                </a:solidFill>
                <a:latin typeface="Arial"/>
                <a:ea typeface="Arial"/>
                <a:cs typeface="Arial"/>
              </a:rPr>
              <a:t>Kernel пропускает блок, если все вероятности в нём ниже порога.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E94A2-609E-4A4E-8B38-B7557F03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915025"/>
            <a:ext cx="4095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BF16 хранит и меньшие числа: дело в точности вычисления.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2C534-0B01-4F40-8330-86D42B54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Источник рисунка: Wijmans et al., Figure 3</a:t>
            </a:r>
          </a:p>
        </p:txBody>
      </p:sp>
    </p:spTree>
    <p:extLst>
      <p:ext uri="{BB962C8B-B14F-4D97-AF65-F5344CB8AC3E}">
        <p14:creationId xmlns:p14="http://schemas.microsoft.com/office/powerpoint/2010/main" val="3249254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98D7E-D377-49CA-8C81-4E68E38C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10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253D"/>
                </a:solidFill>
                <a:latin typeface="Arial"/>
                <a:ea typeface="Arial"/>
                <a:cs typeface="Arial"/>
              </a:rPr>
              <a:t>Зачем сортировать словарь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C2146-523A-43CB-9830-62D15712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504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29757-1DBE-4FD1-BB39-B2033508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53D"/>
                </a:solidFill>
                <a:latin typeface="Arial"/>
                <a:ea typeface="Arial"/>
                <a:cs typeface="Arial"/>
              </a:rPr>
              <a:t>Пропустить можно лишь блок, в котором все вероятности малы. Если хотя бы одна выше порога, блок нужно обработать.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BB76B-E4E0-4DC6-A664-9E33F10D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504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02EFD-1324-41ED-A30D-B4873EC3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53D"/>
                </a:solidFill>
                <a:latin typeface="Arial"/>
                <a:ea typeface="Arial"/>
                <a:cs typeface="Arial"/>
              </a:rPr>
              <a:t>В прямом проходе считают средний логит каждого элемента словаря. При обратном проходе элементы с близкими значениями группируют.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C027E-897C-417E-8080-A4E8E841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ИЗМЕРЕНИЕ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43678-D0BC-40A7-B938-7625444D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53D"/>
                </a:solidFill>
                <a:latin typeface="Arial"/>
                <a:ea typeface="Arial"/>
                <a:cs typeface="Arial"/>
              </a:rPr>
              <a:t>Без сортировки функция потерь и градиент считаются 159 мс вместо 145 мс на Gemma 2 2B.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0C6BB-4F8B-418E-8B38-0536A3E2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Сортировка не удаляет токены из словаря.</a:t>
            </a:r>
          </a:p>
        </p:txBody>
      </p:sp>
    </p:spTree>
    <p:extLst>
      <p:ext uri="{BB962C8B-B14F-4D97-AF65-F5344CB8AC3E}">
        <p14:creationId xmlns:p14="http://schemas.microsoft.com/office/powerpoint/2010/main" val="15093806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40E51-1E4C-4445-B547-C91F1E30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10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253D"/>
                </a:solidFill>
                <a:latin typeface="Arial"/>
                <a:ea typeface="Arial"/>
                <a:cs typeface="Arial"/>
              </a:rPr>
              <a:t>Память и время: Gemma 2 2B на A100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7A5F0-43CF-4F46-A1B6-890F3DE0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87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Функция потерь и градиент, 8 192 позиции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AAE07-44DE-4CF0-91C9-71F60979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38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PYTORCH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7F786-E8F4-415B-A667-FE87270A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76450"/>
            <a:ext cx="228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9D5E0-70FE-4F1E-9A84-7153E776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C956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C95621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C95621"/>
                </a:solidFill>
                <a:latin typeface="Arial"/>
                <a:ea typeface="Arial"/>
                <a:cs typeface="Arial"/>
              </a:rPr>
              <a:t>28 000 МБ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C60C7-4F8B-48C1-A45C-E95D4C5C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71750"/>
            <a:ext cx="4429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1 164 МБ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A1F53-70FF-4AFB-A51A-F24BC325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4000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53D"/>
                </a:solidFill>
                <a:latin typeface="Arial"/>
                <a:ea typeface="Arial"/>
                <a:cs typeface="Arial"/>
              </a:rPr>
              <a:t>208 мс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79843-ADD4-4561-A974-9539228B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05225"/>
            <a:ext cx="4000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53D"/>
                </a:solidFill>
                <a:latin typeface="Arial"/>
                <a:ea typeface="Arial"/>
                <a:cs typeface="Arial"/>
              </a:rPr>
              <a:t>145 мс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929FEF-D115-40CA-B8A7-967A5D4F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53D"/>
                </a:solidFill>
                <a:latin typeface="Arial"/>
                <a:ea typeface="Arial"/>
                <a:cs typeface="Arial"/>
              </a:rPr>
              <a:t>Если считать только функцию потерь, пик памяти составляет 1 МБ у CCE против 24 000 МБ у PyTorch.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C4008-76A1-430C-A469-1A7552BD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torch.compile: 16 000 МБ и 143 мс. На Phi 3.5 Mini CCE примерно на 50% медленнее: приложение C.</a:t>
            </a:r>
          </a:p>
        </p:txBody>
      </p:sp>
    </p:spTree>
    <p:extLst>
      <p:ext uri="{BB962C8B-B14F-4D97-AF65-F5344CB8AC3E}">
        <p14:creationId xmlns:p14="http://schemas.microsoft.com/office/powerpoint/2010/main" val="10069665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01023-F03C-456E-9546-1A3CEE3C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10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253D"/>
                </a:solidFill>
                <a:latin typeface="Arial"/>
                <a:ea typeface="Arial"/>
                <a:cs typeface="Arial"/>
              </a:rPr>
              <a:t>Фильтрация в обратном проходе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1DFB7-8AD4-499E-A978-38F07615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Gemma 2 2B на A100, функция потерь и градиент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D8242-09FB-466A-93A4-ABD66118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CCE С ФИЛЬТРАЦИЕЙ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1D244-15C9-4613-AA91-DDD4255A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24075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БЕЗ ФИЛЬТРАЦИИ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E69D7-3B6A-46BC-AD56-5F727D82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145 мс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A03C7-F45D-4A50-8091-6A9902E5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19375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C9562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C95621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C95621"/>
                </a:solidFill>
                <a:latin typeface="Arial"/>
                <a:ea typeface="Arial"/>
                <a:cs typeface="Arial"/>
              </a:rPr>
              <a:t>357 мс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09184-CF5E-43F9-9B6E-7B2B60A9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53D"/>
                </a:solidFill>
                <a:latin typeface="Arial"/>
                <a:ea typeface="Arial"/>
                <a:cs typeface="Arial"/>
              </a:rPr>
              <a:t>Без фильтрации обратный проход занимает 314 мс вместо 100 мс.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C8CF7-048C-4EA9-8118-3A33E23D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53D"/>
                </a:solidFill>
                <a:latin typeface="Arial"/>
                <a:ea typeface="Arial"/>
                <a:cs typeface="Arial"/>
              </a:rPr>
              <a:t>Главную экономию времени даёт пропуск блоков с малыми вероятностями.</a:t>
            </a:r>
          </a:p>
        </p:txBody>
      </p:sp>
    </p:spTree>
    <p:extLst>
      <p:ext uri="{BB962C8B-B14F-4D97-AF65-F5344CB8AC3E}">
        <p14:creationId xmlns:p14="http://schemas.microsoft.com/office/powerpoint/2010/main" val="17177341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D9B8F-DEED-4FF8-8CB8-B2375699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10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253D"/>
                </a:solidFill>
                <a:latin typeface="Arial"/>
                <a:ea typeface="Arial"/>
                <a:cs typeface="Arial"/>
              </a:rPr>
              <a:t>Влияние на обучение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25C4A-FDBF-4409-B2AB-3ED59F4D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71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ДООБУЧЕНИЕ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5ED69-3DC4-4066-BB0A-6DDBA07D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10334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53D"/>
                </a:solidFill>
                <a:latin typeface="Arial"/>
                <a:ea typeface="Arial"/>
                <a:cs typeface="Arial"/>
              </a:rPr>
              <a:t>Кривые функции потерь для CCE и torch.compile почти совпали на четырёх моделях.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0B040-7889-4730-877C-6C1A9379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571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ПРЕДОБУЧЕНИЕ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4C2DC-9CA3-46E8-8310-E52D65EF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103346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53D"/>
                </a:solidFill>
                <a:latin typeface="Arial"/>
                <a:ea typeface="Arial"/>
                <a:cs typeface="Arial"/>
              </a:rPr>
              <a:t>Фильтрация может обнулить градиенты редких токенов. Поэтому для весов классификатора её отключают, а ошибку BF16 снижают суммированием Кахана.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BC21E-C69E-493F-8B58-420BFAAB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647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ВАРИАНТ ДЛЯ ПРЕДОБУЧЕНИЯ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E8BDB-9104-4E0F-9230-3EDCA30E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53D"/>
                </a:solidFill>
                <a:latin typeface="Arial"/>
                <a:ea typeface="Arial"/>
                <a:cs typeface="Arial"/>
              </a:rPr>
              <a:t>Для CCE-Kahan-FullC и torch.compile кривые перплексии совпали. На Mistral NeMo удвоенный батч сократил обучение на 2 ч (16%), хотя расчёт потерь и градиентов стал медленнее.</a:t>
            </a:r>
          </a:p>
        </p:txBody>
      </p:sp>
    </p:spTree>
    <p:extLst>
      <p:ext uri="{BB962C8B-B14F-4D97-AF65-F5344CB8AC3E}">
        <p14:creationId xmlns:p14="http://schemas.microsoft.com/office/powerpoint/2010/main" val="15082590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ABF70-459E-41A1-8C11-7C065D26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10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253D"/>
                </a:solidFill>
                <a:latin typeface="Arial"/>
                <a:ea typeface="Arial"/>
                <a:cs typeface="Arial"/>
              </a:rPr>
              <a:t>LM head и баланс стадий 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67FA5-846E-42F7-AD41-94CD19BE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КОНВЕЙЕРНЫЙ ПАРАЛЛЕЛИЗМ (PP)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84DCB-FDE1-46D7-B4FB-2F25834D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53D"/>
                </a:solidFill>
                <a:latin typeface="Arial"/>
                <a:ea typeface="Arial"/>
                <a:cs typeface="Arial"/>
              </a:rPr>
              <a:t>PP работает лучше, когда вычислительная нагрузка стадий близка. Их проще балансировать, если блоки похожи по отношению памяти к вычислениям.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EABE7-5BE9-4494-BC2A-B0F0C336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714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LM HEAD ТРЕБУЕТ БОЛЬШЕ ПАМЯТИ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CCB8E6-FDE5-47A4-AEC5-27AA4AFD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572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53D"/>
                </a:solidFill>
                <a:latin typeface="Arial"/>
                <a:ea typeface="Arial"/>
                <a:cs typeface="Arial"/>
              </a:rPr>
              <a:t>По сравнению с другими блоками модели LM head расходует непропорционально много памяти на единицу вычислений.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F1614-463B-413D-8268-EFCD7856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ВОЗМОЖНЫЙ ЭФФЕКТ CCE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A34A7-C3A6-4F27-A4FC-FAD04A37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387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5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53D"/>
                </a:solidFill>
                <a:latin typeface="Arial"/>
                <a:ea typeface="Arial"/>
                <a:cs typeface="Arial"/>
              </a:rPr>
              <a:t>Снижение расхода памяти может упростить балансировку PP или позволить обойтись меньшим числом стадий.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413EC-91CD-443C-9AF4-CEEA279A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Это предположение авторов: замеров с PP в статье нет.</a:t>
            </a:r>
          </a:p>
        </p:txBody>
      </p:sp>
    </p:spTree>
    <p:extLst>
      <p:ext uri="{BB962C8B-B14F-4D97-AF65-F5344CB8AC3E}">
        <p14:creationId xmlns:p14="http://schemas.microsoft.com/office/powerpoint/2010/main" val="2009025167"/>
      </p:ext>
    </p:extLst>
  </p:cSld>
</p:sld>
</file>

<file path=ppt/theme/theme1.xml><?xml version="1.0" encoding="utf-8"?>
<a:theme xmlns:a="http://schemas.openxmlformats.org/drawingml/2006/main" name="Cut Cross-Entropy">
  <a:themeElements>
    <a:clrScheme name="Cut Cross-Entropy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ut Cross-Entrop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/>
  <ap:PresentationFormat>Presentation</ap:PresentationFormat>
  <ap:Slides>11</ap:Slides>
  <ap:Notes>11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/>
  <dc:title>Cut Cross-Entropy</dc:title>
  <dcterms:created xsi:type="dcterms:W3CDTF">2026-10-10T17:58:12.1260000Z</dcterms:created>
  <dcterms:modified xsi:type="dcterms:W3CDTF">2026-10-10T17:58:12.1260000Z</dcterms:modified>
</coreProperties>
</file>